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9" r:id="rId13"/>
    <p:sldId id="280" r:id="rId14"/>
    <p:sldId id="281" r:id="rId15"/>
    <p:sldId id="282" r:id="rId16"/>
    <p:sldId id="283" r:id="rId17"/>
    <p:sldId id="284" r:id="rId18"/>
    <p:sldId id="286" r:id="rId19"/>
    <p:sldId id="287" r:id="rId20"/>
    <p:sldId id="288" r:id="rId21"/>
    <p:sldId id="285" r:id="rId22"/>
    <p:sldId id="289" r:id="rId23"/>
    <p:sldId id="29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4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4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000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174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607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339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242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016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196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653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530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207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707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7023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108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479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4431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1902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71A94-CC19-4EFA-A801-7B436E96BBC0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996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71A94-CC19-4EFA-A801-7B436E96BBC0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F6E866A-5091-49B2-9DF5-3144AC5F4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326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4E6E316-1E1A-416B-9E62-ABF6F92F3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9092" y="1676652"/>
            <a:ext cx="4716908" cy="1371600"/>
          </a:xfrm>
        </p:spPr>
        <p:txBody>
          <a:bodyPr/>
          <a:lstStyle/>
          <a:p>
            <a:r>
              <a:rPr lang="en-GB" b="0" i="0" dirty="0">
                <a:effectLst/>
                <a:latin typeface="times" panose="02020603050405020304" pitchFamily="18" charset="0"/>
              </a:rPr>
              <a:t>Road Accidents Data Analysis</a:t>
            </a:r>
            <a:br>
              <a:rPr lang="en-GB" b="0" i="0" dirty="0">
                <a:effectLst/>
                <a:latin typeface="times" panose="02020603050405020304" pitchFamily="18" charset="0"/>
              </a:rPr>
            </a:b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D29C5BA-DB24-4B1E-ADC1-235D5FD9DEDE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28" r="25928"/>
          <a:stretch/>
        </p:blipFill>
        <p:spPr bwMode="auto">
          <a:xfrm>
            <a:off x="6309360" y="841121"/>
            <a:ext cx="5138928" cy="487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2392D8-57D1-4B33-BB47-94C8B0FE4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83180" y="2913889"/>
            <a:ext cx="4012820" cy="1030222"/>
          </a:xfrm>
        </p:spPr>
        <p:txBody>
          <a:bodyPr/>
          <a:lstStyle/>
          <a:p>
            <a:r>
              <a:rPr lang="en-IN" dirty="0"/>
              <a:t>An analytical overview on road accidents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0200ACE-D558-487B-A85F-8A855E514BC1}"/>
              </a:ext>
            </a:extLst>
          </p:cNvPr>
          <p:cNvCxnSpPr/>
          <p:nvPr/>
        </p:nvCxnSpPr>
        <p:spPr>
          <a:xfrm>
            <a:off x="1600200" y="2743200"/>
            <a:ext cx="4495800" cy="0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028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6EA1E-5309-44D0-B11D-A695F5EFB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740" y="0"/>
            <a:ext cx="5426158" cy="585216"/>
          </a:xfrm>
        </p:spPr>
        <p:txBody>
          <a:bodyPr/>
          <a:lstStyle/>
          <a:p>
            <a:pPr algn="l"/>
            <a:r>
              <a:rPr lang="en-IN" dirty="0"/>
              <a:t>I. Introduction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7E7BEC-25F4-4C69-A3CD-2FDB9AAB41F3}"/>
              </a:ext>
            </a:extLst>
          </p:cNvPr>
          <p:cNvSpPr txBox="1"/>
          <p:nvPr/>
        </p:nvSpPr>
        <p:spPr>
          <a:xfrm>
            <a:off x="1610740" y="1216152"/>
            <a:ext cx="919746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effectLst/>
                <a:latin typeface="times" panose="02020603050405020304" pitchFamily="18" charset="0"/>
              </a:rPr>
              <a:t>This project explores the Road Accident dataset to uncover patterns in urban mobility. The dataset includes detailed records of Road Accident and causalities, road &amp; Weather condition, and other affecting factors.</a:t>
            </a:r>
          </a:p>
          <a:p>
            <a:endParaRPr lang="en-GB" dirty="0">
              <a:latin typeface="times" panose="02020603050405020304" pitchFamily="18" charset="0"/>
            </a:endParaRPr>
          </a:p>
          <a:p>
            <a:pPr algn="l"/>
            <a:r>
              <a:rPr lang="en-IN" b="0" i="0" dirty="0">
                <a:effectLst/>
                <a:latin typeface="times" panose="02020603050405020304" pitchFamily="18" charset="0"/>
              </a:rPr>
              <a:t>In this project, we analyse this dataset using Python libraries such as Pandas, NumPy, and Matplotlib/Seaborn.</a:t>
            </a:r>
          </a:p>
          <a:p>
            <a:pPr algn="l"/>
            <a:endParaRPr lang="en-IN" b="0" i="0" dirty="0">
              <a:effectLst/>
              <a:latin typeface="times" panose="02020603050405020304" pitchFamily="18" charset="0"/>
            </a:endParaRPr>
          </a:p>
          <a:p>
            <a:pPr algn="l"/>
            <a:r>
              <a:rPr lang="en-IN" b="1" i="0" dirty="0">
                <a:effectLst/>
                <a:latin typeface="times" panose="02020603050405020304" pitchFamily="18" charset="0"/>
              </a:rPr>
              <a:t>Objectives</a:t>
            </a:r>
            <a:r>
              <a:rPr lang="en-IN" b="0" i="0" dirty="0">
                <a:effectLst/>
                <a:latin typeface="times" panose="02020603050405020304" pitchFamily="18" charset="0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times" panose="02020603050405020304" pitchFamily="18" charset="0"/>
              </a:rPr>
              <a:t>Explore dataset structure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times" panose="02020603050405020304" pitchFamily="18" charset="0"/>
              </a:rPr>
              <a:t>Perform cleaning and pre-processing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times" panose="02020603050405020304" pitchFamily="18" charset="0"/>
              </a:rPr>
              <a:t>Generate insights from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times" panose="02020603050405020304" pitchFamily="18" charset="0"/>
              </a:rPr>
              <a:t>Visualize important trends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972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6EA1E-5309-44D0-B11D-A695F5EFB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740" y="0"/>
            <a:ext cx="5426158" cy="585216"/>
          </a:xfrm>
        </p:spPr>
        <p:txBody>
          <a:bodyPr/>
          <a:lstStyle/>
          <a:p>
            <a:pPr algn="l"/>
            <a:r>
              <a:rPr lang="en-IN" dirty="0"/>
              <a:t>II. Dataset Description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D61AAD34-6760-449A-A2D4-6D463BA948C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27800" r="27800"/>
          <a:stretch/>
        </p:blipFill>
        <p:spPr>
          <a:xfrm>
            <a:off x="7594600" y="1216025"/>
            <a:ext cx="3281363" cy="457200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7E7BEC-25F4-4C69-A3CD-2FDB9AAB41F3}"/>
              </a:ext>
            </a:extLst>
          </p:cNvPr>
          <p:cNvSpPr txBox="1"/>
          <p:nvPr/>
        </p:nvSpPr>
        <p:spPr>
          <a:xfrm>
            <a:off x="1610740" y="1216152"/>
            <a:ext cx="57410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" panose="02020603050405020304" pitchFamily="18" charset="0"/>
                <a:cs typeface="times" panose="02020603050405020304" pitchFamily="18" charset="0"/>
              </a:rPr>
              <a:t>Data is an important source of information in any kind of project as it allows the analyst to build relationships between what is happening in different measures and categories.</a:t>
            </a:r>
          </a:p>
          <a:p>
            <a:pPr algn="l"/>
            <a:endParaRPr lang="en-IN" b="0" i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l"/>
            <a:r>
              <a:rPr lang="en-IN" b="0" i="0" dirty="0">
                <a:effectLst/>
                <a:latin typeface="times" panose="02020603050405020304" pitchFamily="18" charset="0"/>
                <a:cs typeface="times" panose="02020603050405020304" pitchFamily="18" charset="0"/>
              </a:rPr>
              <a:t>Details: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times" panose="02020603050405020304" pitchFamily="18" charset="0"/>
                <a:cs typeface="times" panose="02020603050405020304" pitchFamily="18" charset="0"/>
              </a:rPr>
              <a:t>Total Rows: 307973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times" panose="02020603050405020304" pitchFamily="18" charset="0"/>
                <a:cs typeface="times" panose="02020603050405020304" pitchFamily="18" charset="0"/>
              </a:rPr>
              <a:t>Total Columns: 21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times" panose="02020603050405020304" pitchFamily="18" charset="0"/>
                <a:cs typeface="times" panose="02020603050405020304" pitchFamily="18" charset="0"/>
              </a:rPr>
              <a:t>Data Format: CSV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times" panose="02020603050405020304" pitchFamily="18" charset="0"/>
                <a:cs typeface="times" panose="02020603050405020304" pitchFamily="18" charset="0"/>
              </a:rPr>
              <a:t>Number of Files: 1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055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6EA1E-5309-44D0-B11D-A695F5EFB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740" y="0"/>
            <a:ext cx="5426158" cy="585216"/>
          </a:xfrm>
        </p:spPr>
        <p:txBody>
          <a:bodyPr/>
          <a:lstStyle/>
          <a:p>
            <a:pPr algn="l"/>
            <a:r>
              <a:rPr lang="en-IN" dirty="0"/>
              <a:t>II. Dataset Description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132828-FCF1-4D2D-A643-BD6456F1B8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432545"/>
              </p:ext>
            </p:extLst>
          </p:nvPr>
        </p:nvGraphicFramePr>
        <p:xfrm>
          <a:off x="1610740" y="643192"/>
          <a:ext cx="8145908" cy="52821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9395">
                  <a:extLst>
                    <a:ext uri="{9D8B030D-6E8A-4147-A177-3AD203B41FA5}">
                      <a16:colId xmlns:a16="http://schemas.microsoft.com/office/drawing/2014/main" val="4019393920"/>
                    </a:ext>
                  </a:extLst>
                </a:gridCol>
                <a:gridCol w="3080098">
                  <a:extLst>
                    <a:ext uri="{9D8B030D-6E8A-4147-A177-3AD203B41FA5}">
                      <a16:colId xmlns:a16="http://schemas.microsoft.com/office/drawing/2014/main" val="476831836"/>
                    </a:ext>
                  </a:extLst>
                </a:gridCol>
                <a:gridCol w="3586415">
                  <a:extLst>
                    <a:ext uri="{9D8B030D-6E8A-4147-A177-3AD203B41FA5}">
                      <a16:colId xmlns:a16="http://schemas.microsoft.com/office/drawing/2014/main" val="2576673679"/>
                    </a:ext>
                  </a:extLst>
                </a:gridCol>
              </a:tblGrid>
              <a:tr h="212483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Name</a:t>
                      </a:r>
                      <a:endParaRPr lang="en-IN" sz="105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05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  <a:endParaRPr lang="en-IN" sz="105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429536"/>
                  </a:ext>
                </a:extLst>
              </a:tr>
              <a:tr h="212483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Accident_Index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 Number of the Accident Records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200901BS70001,200901BS70006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extLst>
                  <a:ext uri="{0D108BD9-81ED-4DB2-BD59-A6C34878D82A}">
                    <a16:rowId xmlns:a16="http://schemas.microsoft.com/office/drawing/2014/main" val="105013539"/>
                  </a:ext>
                </a:extLst>
              </a:tr>
              <a:tr h="212483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Accident Date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 when the accident happened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01-01-2021, 02-01-2021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extLst>
                  <a:ext uri="{0D108BD9-81ED-4DB2-BD59-A6C34878D82A}">
                    <a16:rowId xmlns:a16="http://schemas.microsoft.com/office/drawing/2014/main" val="662661761"/>
                  </a:ext>
                </a:extLst>
              </a:tr>
              <a:tr h="212483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Day_of_Week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 of week When the accident happened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Monday, Tuesday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extLst>
                  <a:ext uri="{0D108BD9-81ED-4DB2-BD59-A6C34878D82A}">
                    <a16:rowId xmlns:a16="http://schemas.microsoft.com/office/drawing/2014/main" val="2354277085"/>
                  </a:ext>
                </a:extLst>
              </a:tr>
              <a:tr h="212483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Junction_Control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of traffic control at the junction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 traffic signal, Give way or uncontrolled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extLst>
                  <a:ext uri="{0D108BD9-81ED-4DB2-BD59-A6C34878D82A}">
                    <a16:rowId xmlns:a16="http://schemas.microsoft.com/office/drawing/2014/main" val="2663759115"/>
                  </a:ext>
                </a:extLst>
              </a:tr>
              <a:tr h="212483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Junction_Detail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 layout or type of junction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T-junction, roundabout, crossroad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extLst>
                  <a:ext uri="{0D108BD9-81ED-4DB2-BD59-A6C34878D82A}">
                    <a16:rowId xmlns:a16="http://schemas.microsoft.com/office/drawing/2014/main" val="3612323563"/>
                  </a:ext>
                </a:extLst>
              </a:tr>
              <a:tr h="212483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Accident_Severity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Severity level of the accident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Fatal, Serious, Slight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extLst>
                  <a:ext uri="{0D108BD9-81ED-4DB2-BD59-A6C34878D82A}">
                    <a16:rowId xmlns:a16="http://schemas.microsoft.com/office/drawing/2014/main" val="2299382835"/>
                  </a:ext>
                </a:extLst>
              </a:tr>
              <a:tr h="414983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Latitude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Geographic latitude coordinate of the accident location.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51.512273, 51.493415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extLst>
                  <a:ext uri="{0D108BD9-81ED-4DB2-BD59-A6C34878D82A}">
                    <a16:rowId xmlns:a16="http://schemas.microsoft.com/office/drawing/2014/main" val="1227983814"/>
                  </a:ext>
                </a:extLst>
              </a:tr>
              <a:tr h="212483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Light_Conditions</a:t>
                      </a:r>
                      <a:endParaRPr lang="en-IN" sz="105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Lighting at the time of the accident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daylight, darkness with street lights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extLst>
                  <a:ext uri="{0D108BD9-81ED-4DB2-BD59-A6C34878D82A}">
                    <a16:rowId xmlns:a16="http://schemas.microsoft.com/office/drawing/2014/main" val="2784418659"/>
                  </a:ext>
                </a:extLst>
              </a:tr>
              <a:tr h="212483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Local_Authority_(District)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Administrative district responsible for the location.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Kensington and Chelsea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extLst>
                  <a:ext uri="{0D108BD9-81ED-4DB2-BD59-A6C34878D82A}">
                    <a16:rowId xmlns:a16="http://schemas.microsoft.com/office/drawing/2014/main" val="2780240565"/>
                  </a:ext>
                </a:extLst>
              </a:tr>
              <a:tr h="414983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Carriageway_Hazards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Any hazards present on the road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Any animal in carriageway, Other object on road, Previous accident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extLst>
                  <a:ext uri="{0D108BD9-81ED-4DB2-BD59-A6C34878D82A}">
                    <a16:rowId xmlns:a16="http://schemas.microsoft.com/office/drawing/2014/main" val="1855241304"/>
                  </a:ext>
                </a:extLst>
              </a:tr>
              <a:tr h="414983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Longitude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Geographic longitude coordinate of the accident location.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(-0.185525, -0.15303)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extLst>
                  <a:ext uri="{0D108BD9-81ED-4DB2-BD59-A6C34878D82A}">
                    <a16:rowId xmlns:a16="http://schemas.microsoft.com/office/drawing/2014/main" val="171048220"/>
                  </a:ext>
                </a:extLst>
              </a:tr>
              <a:tr h="212483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Number_of_Casualties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number of people injured or killed in the accident.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1,2,3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extLst>
                  <a:ext uri="{0D108BD9-81ED-4DB2-BD59-A6C34878D82A}">
                    <a16:rowId xmlns:a16="http://schemas.microsoft.com/office/drawing/2014/main" val="4072391589"/>
                  </a:ext>
                </a:extLst>
              </a:tr>
              <a:tr h="212483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Number_of_Vehicles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vehicles involved in the accident.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1,2,4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extLst>
                  <a:ext uri="{0D108BD9-81ED-4DB2-BD59-A6C34878D82A}">
                    <a16:rowId xmlns:a16="http://schemas.microsoft.com/office/drawing/2014/main" val="2713090996"/>
                  </a:ext>
                </a:extLst>
              </a:tr>
              <a:tr h="212483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Police_Force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police force that recorded the accident.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Metropolitan Police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extLst>
                  <a:ext uri="{0D108BD9-81ED-4DB2-BD59-A6C34878D82A}">
                    <a16:rowId xmlns:a16="http://schemas.microsoft.com/office/drawing/2014/main" val="3097207214"/>
                  </a:ext>
                </a:extLst>
              </a:tr>
              <a:tr h="212483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Road_Surface_Conditions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Condition of the road surface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Dry, Wet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extLst>
                  <a:ext uri="{0D108BD9-81ED-4DB2-BD59-A6C34878D82A}">
                    <a16:rowId xmlns:a16="http://schemas.microsoft.com/office/drawing/2014/main" val="799673606"/>
                  </a:ext>
                </a:extLst>
              </a:tr>
              <a:tr h="212483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Road_Type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Classification of the road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carriageway, One way street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extLst>
                  <a:ext uri="{0D108BD9-81ED-4DB2-BD59-A6C34878D82A}">
                    <a16:rowId xmlns:a16="http://schemas.microsoft.com/office/drawing/2014/main" val="1230723058"/>
                  </a:ext>
                </a:extLst>
              </a:tr>
              <a:tr h="212483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Speed_limit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Legal speed limit at the accident location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30, 50, 60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extLst>
                  <a:ext uri="{0D108BD9-81ED-4DB2-BD59-A6C34878D82A}">
                    <a16:rowId xmlns:a16="http://schemas.microsoft.com/office/drawing/2014/main" val="2968643023"/>
                  </a:ext>
                </a:extLst>
              </a:tr>
              <a:tr h="212483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of day when the accident occurred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15:11, 09:34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extLst>
                  <a:ext uri="{0D108BD9-81ED-4DB2-BD59-A6C34878D82A}">
                    <a16:rowId xmlns:a16="http://schemas.microsoft.com/office/drawing/2014/main" val="843327040"/>
                  </a:ext>
                </a:extLst>
              </a:tr>
              <a:tr h="212483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Urban_or_Rural_Area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Whether the accident occurred in an urban or rural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 or Rural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extLst>
                  <a:ext uri="{0D108BD9-81ED-4DB2-BD59-A6C34878D82A}">
                    <a16:rowId xmlns:a16="http://schemas.microsoft.com/office/drawing/2014/main" val="1190621001"/>
                  </a:ext>
                </a:extLst>
              </a:tr>
              <a:tr h="212483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Weather_Conditions</a:t>
                      </a:r>
                      <a:endParaRPr lang="en-IN" sz="105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 at the time of the accident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 no high winds</a:t>
                      </a:r>
                      <a:endParaRPr lang="en-I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extLst>
                  <a:ext uri="{0D108BD9-81ED-4DB2-BD59-A6C34878D82A}">
                    <a16:rowId xmlns:a16="http://schemas.microsoft.com/office/drawing/2014/main" val="3290903903"/>
                  </a:ext>
                </a:extLst>
              </a:tr>
              <a:tr h="212483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Vehicle_Type</a:t>
                      </a:r>
                      <a:endParaRPr lang="en-IN" sz="105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of vehicle(s) involved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Car, Motor cycle</a:t>
                      </a:r>
                      <a:endParaRPr lang="en-IN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762" marR="6762" marT="6762" marB="0" anchor="b"/>
                </a:tc>
                <a:extLst>
                  <a:ext uri="{0D108BD9-81ED-4DB2-BD59-A6C34878D82A}">
                    <a16:rowId xmlns:a16="http://schemas.microsoft.com/office/drawing/2014/main" val="955412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4343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6EA1E-5309-44D0-B11D-A695F5EFB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740" y="0"/>
            <a:ext cx="5426158" cy="585216"/>
          </a:xfrm>
        </p:spPr>
        <p:txBody>
          <a:bodyPr/>
          <a:lstStyle/>
          <a:p>
            <a:pPr algn="l"/>
            <a:r>
              <a:rPr lang="en-IN" dirty="0"/>
              <a:t>III. Data Cleaning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7E7BEC-25F4-4C69-A3CD-2FDB9AAB41F3}"/>
              </a:ext>
            </a:extLst>
          </p:cNvPr>
          <p:cNvSpPr txBox="1"/>
          <p:nvPr/>
        </p:nvSpPr>
        <p:spPr>
          <a:xfrm>
            <a:off x="1610740" y="1216152"/>
            <a:ext cx="95723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effectLst/>
                <a:latin typeface="times" panose="02020603050405020304" pitchFamily="18" charset="0"/>
              </a:rPr>
              <a:t>For data cleaning purposes, we used different techniques based on our scenario which are explained in-depth as follows:</a:t>
            </a:r>
          </a:p>
          <a:p>
            <a:endParaRPr lang="en-GB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l"/>
            <a:endParaRPr lang="en-IN" b="0" i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l"/>
            <a:r>
              <a:rPr lang="en-IN" b="0" i="0" dirty="0">
                <a:effectLst/>
                <a:latin typeface="times" panose="02020603050405020304" pitchFamily="18" charset="0"/>
                <a:cs typeface="times" panose="02020603050405020304" pitchFamily="18" charset="0"/>
              </a:rPr>
              <a:t>Details:</a:t>
            </a:r>
          </a:p>
          <a:p>
            <a:pPr lvl="1"/>
            <a:r>
              <a:rPr lang="en-GB" dirty="0">
                <a:latin typeface="times" panose="02020603050405020304" pitchFamily="18" charset="0"/>
                <a:cs typeface="times" panose="02020603050405020304" pitchFamily="18" charset="0"/>
              </a:rPr>
              <a:t>1. Checking the Null values</a:t>
            </a:r>
          </a:p>
          <a:p>
            <a:pPr lvl="1"/>
            <a:r>
              <a:rPr lang="en-GB" dirty="0">
                <a:latin typeface="times" panose="02020603050405020304" pitchFamily="18" charset="0"/>
                <a:cs typeface="times" panose="02020603050405020304" pitchFamily="18" charset="0"/>
              </a:rPr>
              <a:t>2. Check for duplicates</a:t>
            </a:r>
          </a:p>
          <a:p>
            <a:pPr lvl="1"/>
            <a:r>
              <a:rPr lang="en-GB" dirty="0">
                <a:latin typeface="times" panose="02020603050405020304" pitchFamily="18" charset="0"/>
                <a:cs typeface="times" panose="02020603050405020304" pitchFamily="18" charset="0"/>
              </a:rPr>
              <a:t>3. Standardize the Data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318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444329"/>
            <a:ext cx="3041969" cy="566738"/>
          </a:xfrm>
        </p:spPr>
        <p:txBody>
          <a:bodyPr>
            <a:noAutofit/>
          </a:bodyPr>
          <a:lstStyle/>
          <a:p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1. Checking the Null values</a:t>
            </a:r>
            <a:endParaRPr lang="en-IN" sz="200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D317753-37D9-4281-A9AD-67935CDE9DE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4636" b="4636"/>
          <a:stretch/>
        </p:blipFill>
        <p:spPr>
          <a:xfrm>
            <a:off x="1539431" y="1398207"/>
            <a:ext cx="8226425" cy="316547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4762" y="4617719"/>
            <a:ext cx="7906577" cy="924369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 17 null values in Time Column.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lets drop those rows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05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444329"/>
            <a:ext cx="3800921" cy="566738"/>
          </a:xfrm>
        </p:spPr>
        <p:txBody>
          <a:bodyPr>
            <a:noAutofit/>
          </a:bodyPr>
          <a:lstStyle/>
          <a:p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2. Checking the Duplicate values</a:t>
            </a:r>
            <a:endParaRPr lang="en-IN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4762" y="4617719"/>
            <a:ext cx="7906577" cy="92436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times" panose="02020603050405020304" pitchFamily="18" charset="0"/>
              </a:rPr>
              <a:t>We have to notice that around 1 lakh of duplicates were found in '</a:t>
            </a:r>
            <a:r>
              <a:rPr lang="en-GB" b="0" i="0" dirty="0" err="1">
                <a:effectLst/>
                <a:latin typeface="times" panose="02020603050405020304" pitchFamily="18" charset="0"/>
              </a:rPr>
              <a:t>Accident_Index</a:t>
            </a:r>
            <a:r>
              <a:rPr lang="en-GB" b="0" i="0" dirty="0">
                <a:effectLst/>
                <a:latin typeface="times" panose="02020603050405020304" pitchFamily="18" charset="0"/>
              </a:rPr>
              <a:t>' column, so it is not a unique feature.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dropped the duplicate rows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6B4EE1F6-F18C-4DCF-8264-6A31A974298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1178" b="231"/>
          <a:stretch/>
        </p:blipFill>
        <p:spPr>
          <a:xfrm>
            <a:off x="1534762" y="1267193"/>
            <a:ext cx="6088828" cy="3094399"/>
          </a:xfrm>
        </p:spPr>
      </p:pic>
    </p:spTree>
    <p:extLst>
      <p:ext uri="{BB962C8B-B14F-4D97-AF65-F5344CB8AC3E}">
        <p14:creationId xmlns:p14="http://schemas.microsoft.com/office/powerpoint/2010/main" val="2733269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444329"/>
            <a:ext cx="3800921" cy="566738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3. </a:t>
            </a:r>
            <a:r>
              <a:rPr lang="en-IN" sz="2000" b="0" i="0" dirty="0">
                <a:effectLst/>
                <a:latin typeface="times" panose="02020603050405020304" pitchFamily="18" charset="0"/>
              </a:rPr>
              <a:t>Standardize the Data</a:t>
            </a:r>
            <a:endParaRPr lang="en-IN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21146" y="4479154"/>
            <a:ext cx="9712358" cy="2093977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date and time into a single string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to datetime format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Month Name and added a new column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Hour and added a new column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Arranging the Days of week and Months columns in order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Droping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unwanted columns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AC3078E5-020F-4595-8169-6662572EED7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927" b="679"/>
          <a:stretch/>
        </p:blipFill>
        <p:spPr>
          <a:xfrm>
            <a:off x="1594039" y="1149632"/>
            <a:ext cx="7251764" cy="3329522"/>
          </a:xfrm>
        </p:spPr>
      </p:pic>
    </p:spTree>
    <p:extLst>
      <p:ext uri="{BB962C8B-B14F-4D97-AF65-F5344CB8AC3E}">
        <p14:creationId xmlns:p14="http://schemas.microsoft.com/office/powerpoint/2010/main" val="2698295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6EA1E-5309-44D0-B11D-A695F5EFB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740" y="0"/>
            <a:ext cx="5426158" cy="585216"/>
          </a:xfrm>
        </p:spPr>
        <p:txBody>
          <a:bodyPr/>
          <a:lstStyle/>
          <a:p>
            <a:pPr algn="l"/>
            <a:r>
              <a:rPr lang="en-IN" dirty="0"/>
              <a:t>IV. Exploratory Data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7E7BEC-25F4-4C69-A3CD-2FDB9AAB41F3}"/>
              </a:ext>
            </a:extLst>
          </p:cNvPr>
          <p:cNvSpPr txBox="1"/>
          <p:nvPr/>
        </p:nvSpPr>
        <p:spPr>
          <a:xfrm>
            <a:off x="1610740" y="1216152"/>
            <a:ext cx="95723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effectLst/>
                <a:latin typeface="times" panose="02020603050405020304" pitchFamily="18" charset="0"/>
              </a:rPr>
              <a:t>For data </a:t>
            </a:r>
            <a:r>
              <a:rPr lang="en-GB" dirty="0">
                <a:latin typeface="times" panose="02020603050405020304" pitchFamily="18" charset="0"/>
              </a:rPr>
              <a:t>analysis</a:t>
            </a:r>
            <a:r>
              <a:rPr lang="en-GB" dirty="0">
                <a:effectLst/>
                <a:latin typeface="times" panose="02020603050405020304" pitchFamily="18" charset="0"/>
              </a:rPr>
              <a:t> purposes, I followed the below steps to analyse the data and provide insights and visualise.</a:t>
            </a:r>
            <a:endParaRPr lang="en-GB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l"/>
            <a:endParaRPr lang="en-IN" b="0" i="0" dirty="0"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l"/>
            <a:r>
              <a:rPr lang="en-IN" b="0" i="0" dirty="0">
                <a:effectLst/>
                <a:latin typeface="times" panose="02020603050405020304" pitchFamily="18" charset="0"/>
                <a:cs typeface="times" panose="02020603050405020304" pitchFamily="18" charset="0"/>
              </a:rPr>
              <a:t>Activities:</a:t>
            </a:r>
          </a:p>
          <a:p>
            <a:pPr marL="800100" lvl="1" indent="-342900">
              <a:buAutoNum type="arabicPeriod"/>
            </a:pPr>
            <a:r>
              <a:rPr lang="en-GB" dirty="0">
                <a:latin typeface="times" panose="02020603050405020304" pitchFamily="18" charset="0"/>
                <a:cs typeface="times" panose="02020603050405020304" pitchFamily="18" charset="0"/>
              </a:rPr>
              <a:t>Summary Statistics</a:t>
            </a:r>
          </a:p>
          <a:p>
            <a:pPr marL="800100" lvl="1" indent="-342900">
              <a:buAutoNum type="arabicPeriod"/>
            </a:pPr>
            <a:r>
              <a:rPr lang="en-GB" dirty="0">
                <a:latin typeface="times" panose="02020603050405020304" pitchFamily="18" charset="0"/>
                <a:cs typeface="times" panose="02020603050405020304" pitchFamily="18" charset="0"/>
              </a:rPr>
              <a:t>Analysis Visualizations</a:t>
            </a:r>
          </a:p>
          <a:p>
            <a:pPr marL="800100" lvl="1" indent="-342900">
              <a:buAutoNum type="arabicPeriod"/>
            </a:pPr>
            <a:r>
              <a:rPr lang="en-GB" dirty="0">
                <a:latin typeface="times" panose="02020603050405020304" pitchFamily="18" charset="0"/>
                <a:cs typeface="times" panose="02020603050405020304" pitchFamily="18" charset="0"/>
              </a:rPr>
              <a:t>Providing Insights</a:t>
            </a:r>
            <a:endParaRPr lang="en-IN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716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444329"/>
            <a:ext cx="3041969" cy="566738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A. Summary Statistics</a:t>
            </a:r>
            <a:endParaRPr lang="en-IN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4762" y="4617719"/>
            <a:ext cx="7906577" cy="924369"/>
          </a:xfrm>
        </p:spPr>
        <p:txBody>
          <a:bodyPr>
            <a:normAutofit lnSpcReduction="10000"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know min and max values.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check is there any outliers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know the range of distribution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AA610B4E-178D-491A-AB43-00DA9DF917F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633" b="147"/>
          <a:stretch/>
        </p:blipFill>
        <p:spPr>
          <a:xfrm>
            <a:off x="1534762" y="1096165"/>
            <a:ext cx="7526942" cy="3413730"/>
          </a:xfrm>
        </p:spPr>
      </p:pic>
    </p:spTree>
    <p:extLst>
      <p:ext uri="{BB962C8B-B14F-4D97-AF65-F5344CB8AC3E}">
        <p14:creationId xmlns:p14="http://schemas.microsoft.com/office/powerpoint/2010/main" val="1735448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444329"/>
            <a:ext cx="3041969" cy="566738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B. Analysis of the Data</a:t>
            </a:r>
            <a:endParaRPr lang="en-IN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4762" y="4617719"/>
            <a:ext cx="7906577" cy="92436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analyse and get insights, framed question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finding the answer, we can get the insights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3E62514-9F67-4111-B5DD-6BF50271D1E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118" t="-102" b="-588"/>
          <a:stretch/>
        </p:blipFill>
        <p:spPr>
          <a:xfrm>
            <a:off x="1594039" y="1217633"/>
            <a:ext cx="6931152" cy="3193519"/>
          </a:xfrm>
        </p:spPr>
      </p:pic>
    </p:spTree>
    <p:extLst>
      <p:ext uri="{BB962C8B-B14F-4D97-AF65-F5344CB8AC3E}">
        <p14:creationId xmlns:p14="http://schemas.microsoft.com/office/powerpoint/2010/main" val="2376130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201168"/>
            <a:ext cx="7906577" cy="1016465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1. </a:t>
            </a:r>
            <a:r>
              <a:rPr lang="en-GB" sz="2000" b="0" i="0" dirty="0">
                <a:effectLst/>
                <a:latin typeface="times" panose="02020603050405020304" pitchFamily="18" charset="0"/>
              </a:rPr>
              <a:t>Which months show the highest number of accidents?</a:t>
            </a:r>
            <a:br>
              <a:rPr lang="en-GB" sz="2000" b="0" i="0" dirty="0">
                <a:effectLst/>
                <a:latin typeface="times" panose="02020603050405020304" pitchFamily="18" charset="0"/>
              </a:rPr>
            </a:br>
            <a:endParaRPr lang="en-IN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4762" y="4617719"/>
            <a:ext cx="7906577" cy="92436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accidents was happened on November(29094).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 accident was occurred in February(21882)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3E62514-9F67-4111-B5DD-6BF50271D1E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" r="1286" b="-2"/>
          <a:stretch/>
        </p:blipFill>
        <p:spPr>
          <a:xfrm>
            <a:off x="1594039" y="1217633"/>
            <a:ext cx="4501962" cy="3193519"/>
          </a:xfrm>
        </p:spPr>
      </p:pic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745A646-FD5C-4C93-AED8-85F5D6CFE9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6" r="3693" b="-2"/>
          <a:stretch/>
        </p:blipFill>
        <p:spPr>
          <a:xfrm>
            <a:off x="6330631" y="1217632"/>
            <a:ext cx="4501961" cy="319351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618954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201169"/>
            <a:ext cx="7906577" cy="924370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2. Which day of week show the highest number of accidents?</a:t>
            </a:r>
            <a:endParaRPr lang="en-IN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4762" y="4617719"/>
            <a:ext cx="7906577" cy="92436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accidents was happened on Friday(50529)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 accident was occurred in Sunday(33543)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3E62514-9F67-4111-B5DD-6BF50271D1E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" r="-2329"/>
          <a:stretch/>
        </p:blipFill>
        <p:spPr>
          <a:xfrm>
            <a:off x="1594038" y="1217632"/>
            <a:ext cx="4501961" cy="3193519"/>
          </a:xfrm>
        </p:spPr>
      </p:pic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745A646-FD5C-4C93-AED8-85F5D6CFE9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" r="-273"/>
          <a:stretch/>
        </p:blipFill>
        <p:spPr>
          <a:xfrm>
            <a:off x="6376351" y="1217632"/>
            <a:ext cx="4501960" cy="319351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557921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201169"/>
            <a:ext cx="8583233" cy="809896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3. Are accidents more frequent during specific hours of the day?</a:t>
            </a:r>
            <a:endParaRPr lang="en-IN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4762" y="4617719"/>
            <a:ext cx="7906577" cy="92436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accidents was happened on November(29094).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 accident was occurred in February(21882)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3E62514-9F67-4111-B5DD-6BF50271D1E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4"/>
          <a:stretch/>
        </p:blipFill>
        <p:spPr>
          <a:xfrm>
            <a:off x="1594039" y="1217633"/>
            <a:ext cx="4501962" cy="3193519"/>
          </a:xfrm>
        </p:spPr>
      </p:pic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745A646-FD5C-4C93-AED8-85F5D6CFE9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80" r="725"/>
          <a:stretch/>
        </p:blipFill>
        <p:spPr>
          <a:xfrm>
            <a:off x="6326218" y="1217633"/>
            <a:ext cx="4561238" cy="319351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089857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201169"/>
            <a:ext cx="8043737" cy="809894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4. Do weekends vs weekdays show different accident severity trends?</a:t>
            </a:r>
            <a:endParaRPr lang="en-IN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4762" y="4617719"/>
            <a:ext cx="7906577" cy="92436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Comparatively, Week days have higher count of causalities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accident count in the range of 50000 to 60000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3E62514-9F67-4111-B5DD-6BF50271D1E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63" r="42"/>
          <a:stretch/>
        </p:blipFill>
        <p:spPr>
          <a:xfrm>
            <a:off x="1517969" y="1217632"/>
            <a:ext cx="4578031" cy="3193519"/>
          </a:xfrm>
        </p:spPr>
      </p:pic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745A646-FD5C-4C93-AED8-85F5D6CFE9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" r="299" b="-2"/>
          <a:stretch/>
        </p:blipFill>
        <p:spPr>
          <a:xfrm>
            <a:off x="6348919" y="1217631"/>
            <a:ext cx="4501961" cy="319351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031059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201169"/>
            <a:ext cx="8043737" cy="809894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5. Which type of Junction control have many accidents?</a:t>
            </a:r>
            <a:endParaRPr lang="en-IN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4762" y="4617719"/>
            <a:ext cx="7906577" cy="924369"/>
          </a:xfrm>
        </p:spPr>
        <p:txBody>
          <a:bodyPr>
            <a:normAutofit fontScale="92500" lnSpcReduction="10000"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of the accidents was occurred in "Not a junction or within 20 meters(11892)" and "T or staggered junction(95377)"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 of the accidents was occurred in "Mini-roundabout(3317)" and "More than 4 arms (not roundabout)(4085)"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3E62514-9F67-4111-B5DD-6BF50271D1E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8" r="-164"/>
          <a:stretch/>
        </p:blipFill>
        <p:spPr>
          <a:xfrm>
            <a:off x="1594039" y="1217632"/>
            <a:ext cx="4501962" cy="3193519"/>
          </a:xfrm>
        </p:spPr>
      </p:pic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745A646-FD5C-4C93-AED8-85F5D6CFE9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" r="382"/>
          <a:stretch/>
        </p:blipFill>
        <p:spPr>
          <a:xfrm>
            <a:off x="6664269" y="1217631"/>
            <a:ext cx="4501962" cy="319351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4121176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201169"/>
            <a:ext cx="8043737" cy="809894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6. What is Causalities rate based on </a:t>
            </a:r>
            <a:r>
              <a:rPr lang="en-GB" sz="2000" dirty="0" err="1">
                <a:latin typeface="times" panose="02020603050405020304" pitchFamily="18" charset="0"/>
                <a:cs typeface="times" panose="02020603050405020304" pitchFamily="18" charset="0"/>
              </a:rPr>
              <a:t>Accident_Severity</a:t>
            </a:r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?</a:t>
            </a:r>
            <a:endParaRPr lang="en-IN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4762" y="4617719"/>
            <a:ext cx="7906577" cy="924369"/>
          </a:xfrm>
        </p:spPr>
        <p:txBody>
          <a:bodyPr>
            <a:normAutofit lnSpcReduction="10000"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of the accidents are lies under 'Slight' severity category(84.2%)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Fatal condition accidents having he rate of 1.7%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Serious condition accidents having he rate of 14.1%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3E62514-9F67-4111-B5DD-6BF50271D1E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" r="-31"/>
          <a:stretch/>
        </p:blipFill>
        <p:spPr>
          <a:xfrm>
            <a:off x="1594039" y="1217632"/>
            <a:ext cx="4249044" cy="3291800"/>
          </a:xfrm>
        </p:spPr>
      </p:pic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745A646-FD5C-4C93-AED8-85F5D6CFE9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2" r="381"/>
          <a:stretch/>
        </p:blipFill>
        <p:spPr>
          <a:xfrm>
            <a:off x="6348919" y="1266772"/>
            <a:ext cx="4249042" cy="319351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607840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201169"/>
            <a:ext cx="8043737" cy="809894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7. What is the Rate of Causalities count with </a:t>
            </a:r>
            <a:r>
              <a:rPr lang="en-GB" sz="2000" dirty="0" err="1">
                <a:latin typeface="times" panose="02020603050405020304" pitchFamily="18" charset="0"/>
                <a:cs typeface="times" panose="02020603050405020304" pitchFamily="18" charset="0"/>
              </a:rPr>
              <a:t>Light_Conditions</a:t>
            </a:r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?</a:t>
            </a:r>
            <a:endParaRPr lang="en-IN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4762" y="4617719"/>
            <a:ext cx="7906577" cy="924369"/>
          </a:xfrm>
        </p:spPr>
        <p:txBody>
          <a:bodyPr>
            <a:normAutofit lnSpcReduction="10000"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that 70% of accidents was happened in Day lights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Around 20% of accidents was happened in Darkness with light lit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6% of accidents happened in no lighting darkness condition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3E62514-9F67-4111-B5DD-6BF50271D1E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" r="-182"/>
          <a:stretch/>
        </p:blipFill>
        <p:spPr>
          <a:xfrm>
            <a:off x="1594039" y="1217632"/>
            <a:ext cx="4501961" cy="3193519"/>
          </a:xfrm>
        </p:spPr>
      </p:pic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745A646-FD5C-4C93-AED8-85F5D6CFE9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" r="101"/>
          <a:stretch/>
        </p:blipFill>
        <p:spPr>
          <a:xfrm>
            <a:off x="6567854" y="1217631"/>
            <a:ext cx="4501962" cy="319351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745633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201169"/>
            <a:ext cx="8956730" cy="809894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8. What is the relationship between </a:t>
            </a:r>
            <a:r>
              <a:rPr lang="en-GB" sz="2000" dirty="0" err="1">
                <a:latin typeface="times" panose="02020603050405020304" pitchFamily="18" charset="0"/>
                <a:cs typeface="times" panose="02020603050405020304" pitchFamily="18" charset="0"/>
              </a:rPr>
              <a:t>Road_Surface_Conditions</a:t>
            </a:r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 and Causalities count?</a:t>
            </a:r>
            <a:endParaRPr lang="en-IN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4762" y="4617719"/>
            <a:ext cx="7906577" cy="924369"/>
          </a:xfrm>
        </p:spPr>
        <p:txBody>
          <a:bodyPr>
            <a:normAutofit lnSpcReduction="10000"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Around 2.7laks causalities were happened in Dry Road condition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Wet or Damp is the second high causalities condition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other conditions are comparatively low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3E62514-9F67-4111-B5DD-6BF50271D1E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" r="288"/>
          <a:stretch/>
        </p:blipFill>
        <p:spPr>
          <a:xfrm>
            <a:off x="1534762" y="1217631"/>
            <a:ext cx="4501961" cy="3193519"/>
          </a:xfrm>
        </p:spPr>
      </p:pic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745A646-FD5C-4C93-AED8-85F5D6CFE9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" r="178"/>
          <a:stretch/>
        </p:blipFill>
        <p:spPr>
          <a:xfrm>
            <a:off x="6155277" y="1217631"/>
            <a:ext cx="4501961" cy="319351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817316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201169"/>
            <a:ext cx="8043737" cy="809894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9. Does the speed limit affect the </a:t>
            </a:r>
            <a:r>
              <a:rPr lang="en-GB" sz="2000" dirty="0" err="1">
                <a:latin typeface="times" panose="02020603050405020304" pitchFamily="18" charset="0"/>
                <a:cs typeface="times" panose="02020603050405020304" pitchFamily="18" charset="0"/>
              </a:rPr>
              <a:t>casualities</a:t>
            </a:r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 counts?</a:t>
            </a:r>
            <a:endParaRPr lang="en-IN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4762" y="4617719"/>
            <a:ext cx="7906577" cy="92436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see that around 2.5laks of Causalities happened in the 30km speed limit roads where most of the public used for transportations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3E62514-9F67-4111-B5DD-6BF50271D1E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72" r="-913"/>
          <a:stretch/>
        </p:blipFill>
        <p:spPr>
          <a:xfrm>
            <a:off x="1594040" y="1217632"/>
            <a:ext cx="4249042" cy="3193519"/>
          </a:xfrm>
        </p:spPr>
      </p:pic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745A646-FD5C-4C93-AED8-85F5D6CFE9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5" r="-389"/>
          <a:stretch/>
        </p:blipFill>
        <p:spPr>
          <a:xfrm>
            <a:off x="6348920" y="1217631"/>
            <a:ext cx="4249040" cy="319351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8901132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47F0-80F6-4845-B686-EEF6E8A6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039" y="201169"/>
            <a:ext cx="8043737" cy="809894"/>
          </a:xfrm>
        </p:spPr>
        <p:txBody>
          <a:bodyPr>
            <a:noAutofit/>
          </a:bodyPr>
          <a:lstStyle/>
          <a:p>
            <a:pPr algn="l"/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10. Which </a:t>
            </a:r>
            <a:r>
              <a:rPr lang="en-GB" sz="2000" dirty="0" err="1">
                <a:latin typeface="times" panose="02020603050405020304" pitchFamily="18" charset="0"/>
                <a:cs typeface="times" panose="02020603050405020304" pitchFamily="18" charset="0"/>
              </a:rPr>
              <a:t>Vehicle_Type</a:t>
            </a:r>
            <a:r>
              <a:rPr lang="en-GB" sz="2000" dirty="0">
                <a:latin typeface="times" panose="02020603050405020304" pitchFamily="18" charset="0"/>
                <a:cs typeface="times" panose="02020603050405020304" pitchFamily="18" charset="0"/>
              </a:rPr>
              <a:t> has high accidents counts?</a:t>
            </a:r>
            <a:endParaRPr lang="en-IN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DA57-83BB-4EF2-B284-E442D8642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4762" y="4617719"/>
            <a:ext cx="7906577" cy="924369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Around 2.3 lakhs of accidents was happened with cars which the people mostly use to transport with multiple passengers and with goods.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3E62514-9F67-4111-B5DD-6BF50271D1E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" r="115"/>
          <a:stretch/>
        </p:blipFill>
        <p:spPr>
          <a:xfrm>
            <a:off x="1341120" y="1217632"/>
            <a:ext cx="4501961" cy="3193519"/>
          </a:xfrm>
        </p:spPr>
      </p:pic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745A646-FD5C-4C93-AED8-85F5D6CFE9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" r="-550"/>
          <a:stretch/>
        </p:blipFill>
        <p:spPr>
          <a:xfrm>
            <a:off x="6348918" y="1217632"/>
            <a:ext cx="4501962" cy="319351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440876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E142E-F33D-4026-9E17-5B52E8C93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649" y="219808"/>
            <a:ext cx="2990974" cy="518746"/>
          </a:xfrm>
        </p:spPr>
        <p:txBody>
          <a:bodyPr>
            <a:noAutofit/>
          </a:bodyPr>
          <a:lstStyle/>
          <a:p>
            <a:pPr algn="l"/>
            <a:r>
              <a:rPr lang="en-GB" sz="2800" dirty="0"/>
              <a:t>Insights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B01187-BBD8-4922-ACD5-0A2FEB73C43F}"/>
              </a:ext>
            </a:extLst>
          </p:cNvPr>
          <p:cNvSpPr txBox="1"/>
          <p:nvPr/>
        </p:nvSpPr>
        <p:spPr>
          <a:xfrm>
            <a:off x="1879963" y="738554"/>
            <a:ext cx="5989151" cy="5863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accidents was happened on November(29094).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 accident was occurred in February(21882).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accidents was happened on Friday(50529).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 accident was occurred in Sunday(33543).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accidents was happened on November(29094).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 accident was occurred in February(21882).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Comparatively, Week days have higher count of causalities.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accident count in the range of 50000 to 60000.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of the accidents was occurred in "Not a junction or within 20 meters(11892)" and "T or staggered junction(95377)".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 of the accidents was occurred in "Mini-roundabout(3317)" and "More than 4 arms (not roundabout)(4085)".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of the accidents are lies under 'Slight' severity category(84.2%).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Fatal condition accidents having he rate of 1.7%.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Serious condition accidents having he rate of 14.1%More that 70% of accidents was happened in Day lights.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Around 20% of accidents was happened in Darkness with light lit.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6% of accidents happened in no lighting darkness condition.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Around 2.7laks causalities were happened in Dry Road condition.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Wet or Damp is the second high causalities condition.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other conditions are comparatively low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see that around 2.5laks of Causalities happened in the 30km speed limit roads where most of the public used for transportations.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Around 2.3 lakhs of accidents was happened with cars which the people mostly use to transport with multiple passengers and with goods.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2B9A8B4-68BA-4F10-845F-54EDE781A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9114" y="964956"/>
            <a:ext cx="4113584" cy="4928088"/>
          </a:xfrm>
          <a:prstGeom prst="rect">
            <a:avLst/>
          </a:prstGeom>
          <a:noFill/>
          <a:ln w="38100" cap="rnd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39000">
                  <a:schemeClr val="tx2">
                    <a:lumMod val="50000"/>
                    <a:lumOff val="50000"/>
                  </a:schemeClr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2844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70265-9AD1-40FC-920E-7932E436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Thank You…!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08D65-3DAC-45E5-BF6D-E4E4F597E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54914" y="4777381"/>
            <a:ext cx="2948107" cy="860400"/>
          </a:xfrm>
        </p:spPr>
        <p:txBody>
          <a:bodyPr/>
          <a:lstStyle/>
          <a:p>
            <a:r>
              <a:rPr lang="en-GB" dirty="0"/>
              <a:t>Analysis by:				</a:t>
            </a:r>
          </a:p>
          <a:p>
            <a:r>
              <a:rPr lang="en-GB" dirty="0"/>
              <a:t>Loganathan 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5616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171</TotalTime>
  <Words>1349</Words>
  <Application>Microsoft Office PowerPoint</Application>
  <PresentationFormat>Widescreen</PresentationFormat>
  <Paragraphs>177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Corbel</vt:lpstr>
      <vt:lpstr>times</vt:lpstr>
      <vt:lpstr>Times New Roman</vt:lpstr>
      <vt:lpstr>Parallax</vt:lpstr>
      <vt:lpstr>Road Accidents Data Analysis </vt:lpstr>
      <vt:lpstr>I. Introduction</vt:lpstr>
      <vt:lpstr>II. Dataset Description</vt:lpstr>
      <vt:lpstr>II. Dataset Description</vt:lpstr>
      <vt:lpstr>III. Data Cleaning</vt:lpstr>
      <vt:lpstr>1. Checking the Null values</vt:lpstr>
      <vt:lpstr>2. Checking the Duplicate values</vt:lpstr>
      <vt:lpstr>3. Standardize the Data</vt:lpstr>
      <vt:lpstr>IV. Exploratory Data Analysis</vt:lpstr>
      <vt:lpstr>A. Summary Statistics</vt:lpstr>
      <vt:lpstr>B. Analysis of the Data</vt:lpstr>
      <vt:lpstr>1. Which months show the highest number of accidents? </vt:lpstr>
      <vt:lpstr>2. Which day of week show the highest number of accidents?</vt:lpstr>
      <vt:lpstr>3. Are accidents more frequent during specific hours of the day?</vt:lpstr>
      <vt:lpstr>4. Do weekends vs weekdays show different accident severity trends?</vt:lpstr>
      <vt:lpstr>5. Which type of Junction control have many accidents?</vt:lpstr>
      <vt:lpstr>6. What is Causalities rate based on Accident_Severity?</vt:lpstr>
      <vt:lpstr>7. What is the Rate of Causalities count with Light_Conditions?</vt:lpstr>
      <vt:lpstr>8. What is the relationship between Road_Surface_Conditions and Causalities count?</vt:lpstr>
      <vt:lpstr>9. Does the speed limit affect the casualities counts?</vt:lpstr>
      <vt:lpstr>10. Which Vehicle_Type has high accidents counts?</vt:lpstr>
      <vt:lpstr>Insights</vt:lpstr>
      <vt:lpstr>Thank You…!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 Accidents Data Analysis</dc:title>
  <dc:creator>Logan Chetty</dc:creator>
  <cp:lastModifiedBy>Logan Chetty</cp:lastModifiedBy>
  <cp:revision>19</cp:revision>
  <dcterms:created xsi:type="dcterms:W3CDTF">2025-10-24T08:04:58Z</dcterms:created>
  <dcterms:modified xsi:type="dcterms:W3CDTF">2025-10-28T16:24:51Z</dcterms:modified>
</cp:coreProperties>
</file>